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8F8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5C8A">
              <a:alpha val="35000"/>
            </a:srgbClr>
          </a:solidFill>
          <a:ln w="12700">
            <a:solidFill>
              <a:srgbClr val="1A5C8A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286000"/>
            <a:ext cx="2286000" cy="2286000"/>
          </a:xfrm>
          <a:prstGeom prst="ellipse">
            <a:avLst/>
          </a:prstGeom>
          <a:solidFill>
            <a:srgbClr val="0D8F8F">
              <a:alpha val="30000"/>
            </a:srgbClr>
          </a:solidFill>
          <a:ln w="12700">
            <a:solidFill>
              <a:srgbClr val="0D8F8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OptiCRM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des Modules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Processus, interactions et workflows de toutes les fonctionnalités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029200" cy="0"/>
          </a:xfrm>
          <a:prstGeom prst="line">
            <a:avLst/>
          </a:prstGeom>
          <a:noFill/>
          <a:ln w="19050">
            <a:solidFill>
              <a:srgbClr val="0D8F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•  Mars 2026  •  Usage Interne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Cartographie des Modules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modules interconnectés autour d'une base de données centralisée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03320" y="1691640"/>
            <a:ext cx="1737360" cy="914400"/>
          </a:xfrm>
          <a:prstGeom prst="ellipse">
            <a:avLst/>
          </a:prstGeom>
          <a:solidFill>
            <a:srgbClr val="0D2B45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03320" y="16916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508760" cy="804672"/>
          </a:xfrm>
          <a:prstGeom prst="rect">
            <a:avLst/>
          </a:prstGeom>
          <a:solidFill>
            <a:srgbClr val="1A5C8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133856"/>
            <a:ext cx="15087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426464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· Contacts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· Opportunités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028700" y="1499616"/>
            <a:ext cx="3543300" cy="649224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828800" y="1051560"/>
            <a:ext cx="1508760" cy="804672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0" y="1088136"/>
            <a:ext cx="15087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828800" y="1380744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83180" y="1453896"/>
            <a:ext cx="1988820" cy="694944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6858000" y="1097280"/>
            <a:ext cx="1508760" cy="804672"/>
          </a:xfrm>
          <a:prstGeom prst="rect">
            <a:avLst/>
          </a:prstGeom>
          <a:solidFill>
            <a:srgbClr val="E07B3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133856"/>
            <a:ext cx="15087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0" y="1426464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· Paiements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· Balance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612380" y="1499616"/>
            <a:ext cx="-3040380" cy="649224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74320" y="2377440"/>
            <a:ext cx="1508760" cy="804672"/>
          </a:xfrm>
          <a:prstGeom prst="rect">
            <a:avLst/>
          </a:prstGeom>
          <a:solidFill>
            <a:srgbClr val="7C3D8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2414016"/>
            <a:ext cx="15087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ODYSSÉE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2706624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28700" y="2779776"/>
            <a:ext cx="3543300" cy="-630936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6858000" y="2377440"/>
            <a:ext cx="1508760" cy="804672"/>
          </a:xfrm>
          <a:prstGeom prst="rect">
            <a:avLst/>
          </a:prstGeom>
          <a:solidFill>
            <a:srgbClr val="0D8F8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0" y="2414016"/>
            <a:ext cx="15087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0" y="2706624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 · Visites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Tournées · Frais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612380" y="2779776"/>
            <a:ext cx="-3040380" cy="-630936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74320" y="3657600"/>
            <a:ext cx="1508760" cy="804672"/>
          </a:xfrm>
          <a:prstGeom prst="rect">
            <a:avLst/>
          </a:prstGeom>
          <a:solidFill>
            <a:srgbClr val="D4A017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3694176"/>
            <a:ext cx="15087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4320" y="3986784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Email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028700" y="4059936"/>
            <a:ext cx="3543300" cy="-1911096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108960" y="3657600"/>
            <a:ext cx="1508760" cy="804672"/>
          </a:xfrm>
          <a:prstGeom prst="rect">
            <a:avLst/>
          </a:prstGeom>
          <a:solidFill>
            <a:srgbClr val="17A8C4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108960" y="3694176"/>
            <a:ext cx="15087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108960" y="3986784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· Objectifs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· Prévisions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63340" y="4059936"/>
            <a:ext cx="708660" cy="-1911096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5943600" y="3657600"/>
            <a:ext cx="1508760" cy="804672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43600" y="3694176"/>
            <a:ext cx="15087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943600" y="3986784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· Tarifs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 · Paramètres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697980" y="4059936"/>
            <a:ext cx="-2125980" cy="-1911096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863840" y="3657600"/>
            <a:ext cx="1508760" cy="804672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863840" y="3694176"/>
            <a:ext cx="15087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863840" y="3986784"/>
            <a:ext cx="1508760" cy="4754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Claude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Rédaction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618220" y="4059936"/>
            <a:ext cx="-4046220" cy="-1911096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Commercial Principal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premier contact à l'encaissement — cycle de vente complet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" y="1188720"/>
            <a:ext cx="1060704" cy="713232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" y="1234440"/>
            <a:ext cx="106070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" y="1581912"/>
            <a:ext cx="106070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entrant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353312" y="1545336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10" name="Shape 8"/>
          <p:cNvSpPr/>
          <p:nvPr/>
        </p:nvSpPr>
        <p:spPr>
          <a:xfrm>
            <a:off x="1554480" y="1188720"/>
            <a:ext cx="1060704" cy="71323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1234440"/>
            <a:ext cx="106070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54480" y="1581912"/>
            <a:ext cx="106070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615184" y="1545336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2816352" y="1188720"/>
            <a:ext cx="1060704" cy="713232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16352" y="1234440"/>
            <a:ext cx="106070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16352" y="1581912"/>
            <a:ext cx="106070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client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77056" y="1545336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18" name="Shape 16"/>
          <p:cNvSpPr/>
          <p:nvPr/>
        </p:nvSpPr>
        <p:spPr>
          <a:xfrm>
            <a:off x="4078224" y="1188720"/>
            <a:ext cx="1060704" cy="713232"/>
          </a:xfrm>
          <a:prstGeom prst="rect">
            <a:avLst/>
          </a:prstGeom>
          <a:solidFill>
            <a:srgbClr val="1A5C8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78224" y="1234440"/>
            <a:ext cx="106070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78224" y="1581912"/>
            <a:ext cx="106070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138928" y="1545336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5340096" y="1188720"/>
            <a:ext cx="1060704" cy="713232"/>
          </a:xfrm>
          <a:prstGeom prst="rect">
            <a:avLst/>
          </a:prstGeom>
          <a:solidFill>
            <a:srgbClr val="1A5C8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40096" y="1234440"/>
            <a:ext cx="106070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40096" y="1581912"/>
            <a:ext cx="106070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400800" y="1545336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26" name="Shape 24"/>
          <p:cNvSpPr/>
          <p:nvPr/>
        </p:nvSpPr>
        <p:spPr>
          <a:xfrm>
            <a:off x="6601968" y="1188720"/>
            <a:ext cx="1060704" cy="713232"/>
          </a:xfrm>
          <a:prstGeom prst="rect">
            <a:avLst/>
          </a:prstGeom>
          <a:solidFill>
            <a:srgbClr val="E07B3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01968" y="1234440"/>
            <a:ext cx="106070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1581912"/>
            <a:ext cx="106070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 commande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662672" y="1545336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30" name="Shape 28"/>
          <p:cNvSpPr/>
          <p:nvPr/>
        </p:nvSpPr>
        <p:spPr>
          <a:xfrm>
            <a:off x="7863840" y="1188720"/>
            <a:ext cx="1060704" cy="713232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63840" y="1234440"/>
            <a:ext cx="106070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0" y="1581912"/>
            <a:ext cx="106070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924544" y="1545336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open"/>
          </a:ln>
        </p:spPr>
      </p:sp>
      <p:sp>
        <p:nvSpPr>
          <p:cNvPr id="34" name="Shape 32"/>
          <p:cNvSpPr/>
          <p:nvPr/>
        </p:nvSpPr>
        <p:spPr>
          <a:xfrm>
            <a:off x="9153144" y="1188720"/>
            <a:ext cx="932688" cy="713232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153144" y="1234440"/>
            <a:ext cx="93268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53144" y="1581912"/>
            <a:ext cx="93268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92608" y="2130552"/>
            <a:ext cx="10607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8328" y="217627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Source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8328" y="235915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38328" y="254203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22960" y="1901952"/>
            <a:ext cx="0" cy="22860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554480" y="2130552"/>
            <a:ext cx="10607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600200" y="217627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600200" y="235915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600200" y="254203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084832" y="1901952"/>
            <a:ext cx="0" cy="22860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2816352" y="2130552"/>
            <a:ext cx="10607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862072" y="217627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ICE / RC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862072" y="235915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Adresse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862072" y="254203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Tarif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346704" y="1901952"/>
            <a:ext cx="0" cy="22860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078224" y="2130552"/>
            <a:ext cx="10607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C8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123944" y="217627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Étape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123944" y="235915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Montant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123944" y="254203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608576" y="1901952"/>
            <a:ext cx="0" cy="22860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5340096" y="2130552"/>
            <a:ext cx="10607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C8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5385816" y="217627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Lignes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385816" y="235915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Remise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385816" y="254203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TVA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870448" y="1901952"/>
            <a:ext cx="0" cy="22860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6601968" y="2130552"/>
            <a:ext cx="10607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647688" y="217627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Prépa.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647688" y="235915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Livraison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647688" y="254203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7132320" y="1901952"/>
            <a:ext cx="0" cy="22860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7863840" y="2130552"/>
            <a:ext cx="10607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7909560" y="217627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Solde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909560" y="235915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Échéance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909560" y="2542032"/>
            <a:ext cx="9692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8394192" y="1901952"/>
            <a:ext cx="0" cy="22860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9153144" y="2130552"/>
            <a:ext cx="93268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198864" y="217627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198864" y="235915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198864" y="2542032"/>
            <a:ext cx="841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Reçu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619488" y="1901952"/>
            <a:ext cx="0" cy="22860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457200" y="4526280"/>
            <a:ext cx="8229600" cy="0"/>
          </a:xfrm>
          <a:prstGeom prst="line">
            <a:avLst/>
          </a:prstGeom>
          <a:noFill/>
          <a:ln w="12700">
            <a:solidFill>
              <a:srgbClr val="1A5C8A"/>
            </a:solidFill>
            <a:prstDash val="dash"/>
            <a:tailEnd type="open"/>
          </a:ln>
        </p:spPr>
      </p:sp>
      <p:sp>
        <p:nvSpPr>
          <p:cNvPr id="78" name="Text 76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 360° — Historique complet de toutes les interactions par compte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CRM — Gestion des Comptes, Contacts &amp; Pistes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prospection à la qualification commerciale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377440" cy="384048"/>
          </a:xfrm>
          <a:prstGeom prst="rect">
            <a:avLst/>
          </a:prstGeom>
          <a:solidFill>
            <a:srgbClr val="1A5C8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97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CLIENT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201168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609344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173736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légales, ICE, IF, RC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929384"/>
            <a:ext cx="201168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938528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066544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Interlocuteurs rattachés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201168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26771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2395728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Solde, encours, retards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587752"/>
            <a:ext cx="201168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59689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2724912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facturation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916936"/>
            <a:ext cx="201168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30352" y="292608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0352" y="3054096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de commande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3246120"/>
            <a:ext cx="201168" cy="256032"/>
          </a:xfrm>
          <a:prstGeom prst="rect">
            <a:avLst/>
          </a:prstGeom>
          <a:solidFill>
            <a:srgbClr val="7C3D8C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3255264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52" y="338328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associés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575304"/>
            <a:ext cx="201168" cy="256032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27" name="Text 25"/>
          <p:cNvSpPr/>
          <p:nvPr/>
        </p:nvSpPr>
        <p:spPr>
          <a:xfrm>
            <a:off x="530352" y="3584448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0352" y="3712464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actif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904488"/>
            <a:ext cx="201168" cy="256032"/>
          </a:xfrm>
          <a:prstGeom prst="rect">
            <a:avLst/>
          </a:prstGeom>
          <a:solidFill>
            <a:srgbClr val="0D8F8F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" y="391363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" y="4041648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Appels, visites, réunions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4233672"/>
            <a:ext cx="201168" cy="256032"/>
          </a:xfrm>
          <a:prstGeom prst="rect">
            <a:avLst/>
          </a:prstGeom>
          <a:solidFill>
            <a:srgbClr val="0D2B45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" y="424281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360°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0352" y="4370832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17520" y="1097280"/>
            <a:ext cx="2377440" cy="384048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017520" y="1097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10896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Prénom / Nom / Poste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108960" y="1947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Téléphone / Mobile / Email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08960" y="22951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Rattaché à un Compte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108960" y="26426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Historique des activités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108960" y="2990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Dernière interaction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06240" y="3383280"/>
            <a:ext cx="0" cy="365760"/>
          </a:xfrm>
          <a:prstGeom prst="line">
            <a:avLst/>
          </a:prstGeom>
          <a:noFill/>
          <a:ln w="19050">
            <a:solidFill>
              <a:srgbClr val="1A5C8A"/>
            </a:solidFill>
            <a:prstDash val="solid"/>
            <a:tailEnd type="open"/>
          </a:ln>
        </p:spPr>
      </p:sp>
      <p:sp>
        <p:nvSpPr>
          <p:cNvPr id="43" name="Shape 41"/>
          <p:cNvSpPr/>
          <p:nvPr/>
        </p:nvSpPr>
        <p:spPr>
          <a:xfrm>
            <a:off x="3291840" y="3749040"/>
            <a:ext cx="1828800" cy="347472"/>
          </a:xfrm>
          <a:prstGeom prst="rect">
            <a:avLst/>
          </a:prstGeom>
          <a:solidFill>
            <a:srgbClr val="1A5C8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291840" y="3749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Opportunité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60720" y="1097280"/>
            <a:ext cx="3017520" cy="384048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760720" y="10972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(LEAD)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760720" y="1600200"/>
            <a:ext cx="1371600" cy="347472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760720" y="1600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223760" y="16733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entrant (web, appel, salon)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46520" y="1947672"/>
            <a:ext cx="0" cy="128016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open"/>
          </a:ln>
        </p:spPr>
      </p:sp>
      <p:sp>
        <p:nvSpPr>
          <p:cNvPr id="51" name="Shape 49"/>
          <p:cNvSpPr/>
          <p:nvPr/>
        </p:nvSpPr>
        <p:spPr>
          <a:xfrm>
            <a:off x="5760720" y="2075688"/>
            <a:ext cx="1371600" cy="347472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760720" y="2075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contact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223760" y="21488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échange effectué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446520" y="2423160"/>
            <a:ext cx="0" cy="128016"/>
          </a:xfrm>
          <a:prstGeom prst="line">
            <a:avLst/>
          </a:prstGeom>
          <a:noFill/>
          <a:ln w="10160">
            <a:solidFill>
              <a:srgbClr val="94A3B8"/>
            </a:solidFill>
            <a:prstDash val="solid"/>
            <a:tailEnd type="open"/>
          </a:ln>
        </p:spPr>
      </p:sp>
      <p:sp>
        <p:nvSpPr>
          <p:cNvPr id="55" name="Shape 53"/>
          <p:cNvSpPr/>
          <p:nvPr/>
        </p:nvSpPr>
        <p:spPr>
          <a:xfrm>
            <a:off x="5760720" y="2551176"/>
            <a:ext cx="1371600" cy="347472"/>
          </a:xfrm>
          <a:prstGeom prst="rect">
            <a:avLst/>
          </a:prstGeom>
          <a:solidFill>
            <a:srgbClr val="1A5C8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760720" y="25511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Qualifié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223760" y="26243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identifié, budget estimé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760720" y="3026664"/>
            <a:ext cx="1371600" cy="347472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760720" y="30266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Disqualifié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23760" y="30998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cible ou sans suite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446520" y="3154680"/>
            <a:ext cx="0" cy="411480"/>
          </a:xfrm>
          <a:prstGeom prst="line">
            <a:avLst/>
          </a:prstGeom>
          <a:noFill/>
          <a:ln w="19050">
            <a:solidFill>
              <a:srgbClr val="1A5C8A"/>
            </a:solidFill>
            <a:prstDash val="dash"/>
            <a:tailEnd type="open"/>
          </a:ln>
        </p:spPr>
      </p:sp>
      <p:sp>
        <p:nvSpPr>
          <p:cNvPr id="62" name="Shape 60"/>
          <p:cNvSpPr/>
          <p:nvPr/>
        </p:nvSpPr>
        <p:spPr>
          <a:xfrm>
            <a:off x="5760720" y="3566160"/>
            <a:ext cx="3017520" cy="384048"/>
          </a:xfrm>
          <a:prstGeom prst="rect">
            <a:avLst/>
          </a:prstGeom>
          <a:solidFill>
            <a:srgbClr val="1A5C8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760720" y="3566160"/>
            <a:ext cx="3017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→ Compte + Contact + Opportunité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4320" y="4480560"/>
            <a:ext cx="2377440" cy="36576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274320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Analyser avec l'IA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Finance — Facturation, Paiements &amp; Analyses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facturation et suivi des encaissements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1508760" cy="749808"/>
          </a:xfrm>
          <a:prstGeom prst="roundRect">
            <a:avLst>
              <a:gd name="adj" fmla="val 7317"/>
            </a:avLst>
          </a:prstGeom>
          <a:solidFill>
            <a:srgbClr val="D9770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0432"/>
            <a:ext cx="1508760" cy="404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47896"/>
            <a:ext cx="1508760" cy="3299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confirmée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74520" y="1517904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10" name="Shape 8"/>
          <p:cNvSpPr/>
          <p:nvPr/>
        </p:nvSpPr>
        <p:spPr>
          <a:xfrm>
            <a:off x="2221992" y="1143000"/>
            <a:ext cx="1508760" cy="749808"/>
          </a:xfrm>
          <a:prstGeom prst="roundRect">
            <a:avLst>
              <a:gd name="adj" fmla="val 7317"/>
            </a:avLst>
          </a:prstGeom>
          <a:solidFill>
            <a:srgbClr val="B4530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21992" y="1170432"/>
            <a:ext cx="1508760" cy="404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21992" y="1547896"/>
            <a:ext cx="1508760" cy="3299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Émission + TVA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30752" y="1517904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4078224" y="1143000"/>
            <a:ext cx="1508760" cy="749808"/>
          </a:xfrm>
          <a:prstGeom prst="roundRect">
            <a:avLst>
              <a:gd name="adj" fmla="val 7317"/>
            </a:avLst>
          </a:prstGeom>
          <a:solidFill>
            <a:srgbClr val="1A5C8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78224" y="1170432"/>
            <a:ext cx="1508760" cy="404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EMAIL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78224" y="1547896"/>
            <a:ext cx="1508760" cy="3299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automatique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86984" y="1517904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18" name="Shape 16"/>
          <p:cNvSpPr/>
          <p:nvPr/>
        </p:nvSpPr>
        <p:spPr>
          <a:xfrm>
            <a:off x="5934456" y="1143000"/>
            <a:ext cx="1508760" cy="749808"/>
          </a:xfrm>
          <a:prstGeom prst="roundRect">
            <a:avLst>
              <a:gd name="adj" fmla="val 7317"/>
            </a:avLst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34456" y="1170432"/>
            <a:ext cx="1508760" cy="404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34456" y="1547896"/>
            <a:ext cx="1508760" cy="3299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Chèque / Virement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/ Espèces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43216" y="1517904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7790688" y="1143000"/>
            <a:ext cx="1508760" cy="749808"/>
          </a:xfrm>
          <a:prstGeom prst="roundRect">
            <a:avLst>
              <a:gd name="adj" fmla="val 7317"/>
            </a:avLst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90688" y="1170432"/>
            <a:ext cx="1508760" cy="4048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SOLDÉE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90688" y="1547896"/>
            <a:ext cx="1508760" cy="3299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Encaissement total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21762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de facture :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31720" y="2176272"/>
            <a:ext cx="100584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233172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474720" y="2176272"/>
            <a:ext cx="100584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ÉMISE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17720" y="2176272"/>
            <a:ext cx="1005840" cy="2560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RETARD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2176272"/>
            <a:ext cx="1005840" cy="25603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PART. PAYÉE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03720" y="2176272"/>
            <a:ext cx="100584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690372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SOLDÉE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046720" y="2176272"/>
            <a:ext cx="100584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ANNULÉE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57200" y="2578608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2697480"/>
            <a:ext cx="393192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2697480"/>
            <a:ext cx="3931920" cy="3200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Âgée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" y="3127248"/>
            <a:ext cx="594360" cy="1307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411480" y="4572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Courant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170432" y="3424428"/>
            <a:ext cx="594360" cy="10104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1170432" y="4572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1–30 j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929384" y="3578962"/>
            <a:ext cx="594360" cy="85587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7" name="Text 45"/>
          <p:cNvSpPr/>
          <p:nvPr/>
        </p:nvSpPr>
        <p:spPr>
          <a:xfrm>
            <a:off x="1929384" y="4572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j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688336" y="3781044"/>
            <a:ext cx="594360" cy="6537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9" name="Text 47"/>
          <p:cNvSpPr/>
          <p:nvPr/>
        </p:nvSpPr>
        <p:spPr>
          <a:xfrm>
            <a:off x="2688336" y="4572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j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3447288" y="3959352"/>
            <a:ext cx="594360" cy="47548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1" name="Text 49"/>
          <p:cNvSpPr/>
          <p:nvPr/>
        </p:nvSpPr>
        <p:spPr>
          <a:xfrm>
            <a:off x="3447288" y="4572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 j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65760" y="4773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tranche d'échéance • Export Excel disponible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0" y="2697480"/>
            <a:ext cx="4206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F8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572000" y="2697480"/>
            <a:ext cx="4206240" cy="320040"/>
          </a:xfrm>
          <a:prstGeom prst="rect">
            <a:avLst/>
          </a:prstGeom>
          <a:solidFill>
            <a:srgbClr val="0D8F8F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0" y="2697480"/>
            <a:ext cx="42062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Saisies (terrain)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663440" y="30723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rapide des ventes par les commerciaux terrain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Synchronisation automatique avec les KPIs et rapports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72000" y="3749040"/>
            <a:ext cx="4206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572000" y="3749040"/>
            <a:ext cx="4206240" cy="3200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0" y="3749040"/>
            <a:ext cx="42062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de Paiement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663440" y="4160520"/>
            <a:ext cx="713232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1" name="Text 59"/>
          <p:cNvSpPr/>
          <p:nvPr/>
        </p:nvSpPr>
        <p:spPr>
          <a:xfrm>
            <a:off x="4663440" y="41605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Espèces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468112" y="4160520"/>
            <a:ext cx="713232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3" name="Text 61"/>
          <p:cNvSpPr/>
          <p:nvPr/>
        </p:nvSpPr>
        <p:spPr>
          <a:xfrm>
            <a:off x="5468112" y="41605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Chèque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72784" y="4160520"/>
            <a:ext cx="713232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5" name="Text 63"/>
          <p:cNvSpPr/>
          <p:nvPr/>
        </p:nvSpPr>
        <p:spPr>
          <a:xfrm>
            <a:off x="6272784" y="41605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Virement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077456" y="4160520"/>
            <a:ext cx="713232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7" name="Text 65"/>
          <p:cNvSpPr/>
          <p:nvPr/>
        </p:nvSpPr>
        <p:spPr>
          <a:xfrm>
            <a:off x="7077456" y="41605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882128" y="4160520"/>
            <a:ext cx="713232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9" name="Text 67"/>
          <p:cNvSpPr/>
          <p:nvPr/>
        </p:nvSpPr>
        <p:spPr>
          <a:xfrm>
            <a:off x="7882128" y="416052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Stock — Catalogue Produits &amp; Inventaire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articles, tarification et mouvements de stock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1463040" cy="370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13332"/>
            <a:ext cx="14630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1485900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10" name="Shape 8"/>
          <p:cNvSpPr/>
          <p:nvPr/>
        </p:nvSpPr>
        <p:spPr>
          <a:xfrm>
            <a:off x="2286000" y="11430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1170432"/>
            <a:ext cx="1463040" cy="370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DISPO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513332"/>
            <a:ext cx="14630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par dépôt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49040" y="1485900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4114800" y="11430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0" y="1170432"/>
            <a:ext cx="1463040" cy="370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0" y="1513332"/>
            <a:ext cx="14630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commande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77840" y="1485900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18" name="Shape 16"/>
          <p:cNvSpPr/>
          <p:nvPr/>
        </p:nvSpPr>
        <p:spPr>
          <a:xfrm>
            <a:off x="5943600" y="11430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1170432"/>
            <a:ext cx="1463040" cy="370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1513332"/>
            <a:ext cx="14630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de livraison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06640" y="1485900"/>
            <a:ext cx="3657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7772400" y="1143000"/>
            <a:ext cx="1463040" cy="685800"/>
          </a:xfrm>
          <a:prstGeom prst="roundRect">
            <a:avLst>
              <a:gd name="adj" fmla="val 8000"/>
            </a:avLst>
          </a:prstGeom>
          <a:solidFill>
            <a:srgbClr val="E07B39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1170432"/>
            <a:ext cx="1463040" cy="370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1513332"/>
            <a:ext cx="146304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Lié à facture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240280"/>
            <a:ext cx="41148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240280"/>
            <a:ext cx="411480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Produit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2697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Référence / Code-barres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26974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Désignation / Description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0815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Catégorie / Famille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0" y="30815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Unité de mesure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34655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Prix de vente HT / TTC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34655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Prix d'achat / Marge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8496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Taux TVA applicable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468880" y="38496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Stock minimum (alerte)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2336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Disponibilité en temps réel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68880" y="42336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Historique des mouvements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2240280"/>
            <a:ext cx="41148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240280"/>
            <a:ext cx="4114800" cy="347472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2240280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&amp; Mouvements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2697480"/>
            <a:ext cx="100584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2697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stock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52160" y="27432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fournisseur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54880" y="3118104"/>
            <a:ext cx="100584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31181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852160" y="31638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client en cours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3538728"/>
            <a:ext cx="100584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35387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stock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52160" y="35844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/ BL émis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3959352"/>
            <a:ext cx="1005840" cy="29260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852160" y="40050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Inventaire physique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54880" y="4379976"/>
            <a:ext cx="100584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5" name="Text 53"/>
          <p:cNvSpPr/>
          <p:nvPr/>
        </p:nvSpPr>
        <p:spPr>
          <a:xfrm>
            <a:off x="4754880" y="43799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852160" y="44256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dépôts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54880" y="4709160"/>
            <a:ext cx="3840480" cy="237744"/>
          </a:xfrm>
          <a:prstGeom prst="rect">
            <a:avLst/>
          </a:prstGeom>
          <a:solidFill>
            <a:srgbClr val="15803D">
              <a:alpha val="9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754880" y="4709160"/>
            <a:ext cx="384048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Valorisation : Prix Moyen Pondéré (PMP) | Alerte stock min configurable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8F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Terrain — Activités, Visites &amp; Tournées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de la force de vente terrain en temps réel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0D8F8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1508760" cy="370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513332"/>
            <a:ext cx="15087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semaine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965960" y="1485900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10" name="Shape 8"/>
          <p:cNvSpPr/>
          <p:nvPr/>
        </p:nvSpPr>
        <p:spPr>
          <a:xfrm>
            <a:off x="2313432" y="114300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0D7F7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13432" y="1170432"/>
            <a:ext cx="1508760" cy="370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13432" y="1513332"/>
            <a:ext cx="15087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/ Visite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822192" y="1485900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4169664" y="114300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0D6E6E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69664" y="1170432"/>
            <a:ext cx="1508760" cy="370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69664" y="1513332"/>
            <a:ext cx="15087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géo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678424" y="1485900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18" name="Shape 16"/>
          <p:cNvSpPr/>
          <p:nvPr/>
        </p:nvSpPr>
        <p:spPr>
          <a:xfrm>
            <a:off x="6025896" y="114300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1A5C8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25896" y="1170432"/>
            <a:ext cx="1508760" cy="370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COMPTE-RENDU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25896" y="1513332"/>
            <a:ext cx="15087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+ Actions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534656" y="1485900"/>
            <a:ext cx="347472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7882128" y="1143000"/>
            <a:ext cx="1508760" cy="685800"/>
          </a:xfrm>
          <a:prstGeom prst="roundRect">
            <a:avLst>
              <a:gd name="adj" fmla="val 8000"/>
            </a:avLst>
          </a:prstGeom>
          <a:solidFill>
            <a:srgbClr val="7C3D8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82128" y="1170432"/>
            <a:ext cx="1508760" cy="370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82128" y="1513332"/>
            <a:ext cx="15087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Itinéraire optimisé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2084832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212848"/>
            <a:ext cx="265176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8F8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212848"/>
            <a:ext cx="2651760" cy="329184"/>
          </a:xfrm>
          <a:prstGeom prst="rect">
            <a:avLst/>
          </a:prstGeom>
          <a:solidFill>
            <a:srgbClr val="0D8F8F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Client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26243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Check-in / Check-out géolocalisé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29718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Objectif de visite défini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33192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Compte-rendu structuré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36667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Photos et pièces jointes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0142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Actions de suivi planifiées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3616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Sync avec agenda commercial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0" y="2212848"/>
            <a:ext cx="265176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2212848"/>
            <a:ext cx="2651760" cy="32918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0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de Frais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291840" y="26243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 : carburant, repas, hôtel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91840" y="29718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Justificatifs photos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91840" y="33192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Workflow : Brouillon → Soumis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0" y="36667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Validation manager requise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91840" y="40142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Statut : Approuvé / Rejeté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91840" y="43616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pour remboursement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2212848"/>
            <a:ext cx="2651760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2212848"/>
            <a:ext cx="2651760" cy="32918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4"/>
          <p:cNvSpPr/>
          <p:nvPr/>
        </p:nvSpPr>
        <p:spPr>
          <a:xfrm>
            <a:off x="6126480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Terrain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217920" y="26243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KPIs quotidiens commerciaux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217920" y="29718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Nb visites réalisées vs objectif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17920" y="33192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Carte des clients du jour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36667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Alertes clients sans visite récente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17920" y="401421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Classement équipe (gamification)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17920" y="43616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Vue manager sur toute l'équipe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D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ODYSSÉE &amp; Marketing — Chantiers, Carte &amp; Campagnes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projets terrain et communication marketing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7C3D8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ODYSSÉE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777240" cy="411480"/>
          </a:xfrm>
          <a:prstGeom prst="rect">
            <a:avLst/>
          </a:prstGeom>
          <a:solidFill>
            <a:srgbClr val="1A5C8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6002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43000" y="1805940"/>
            <a:ext cx="228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1371600" y="1600200"/>
            <a:ext cx="777240" cy="411480"/>
          </a:xfrm>
          <a:prstGeom prst="rect">
            <a:avLst/>
          </a:prstGeom>
          <a:solidFill>
            <a:srgbClr val="7C3D8C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16002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48840" y="1805940"/>
            <a:ext cx="228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2377440" y="1600200"/>
            <a:ext cx="777240" cy="411480"/>
          </a:xfrm>
          <a:prstGeom prst="rect">
            <a:avLst/>
          </a:prstGeom>
          <a:solidFill>
            <a:srgbClr val="5B21B6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0" y="16002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54680" y="1805940"/>
            <a:ext cx="228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3383280" y="1600200"/>
            <a:ext cx="777240" cy="4114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16002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5760" y="2148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Adresse et superficie du chantier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478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Statut d'avancement (0–100%)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8072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Documents et plans attachés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136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Photos galerie chantier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4655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Lié à : Compte, Opportunité, Commande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3749040" cy="38404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840480"/>
            <a:ext cx="37490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Carte Interactive — Localisation de tous les clients &amp; prospects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1097280"/>
            <a:ext cx="4114800" cy="38404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097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MARKETING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600200"/>
            <a:ext cx="777240" cy="411480"/>
          </a:xfrm>
          <a:prstGeom prst="rect">
            <a:avLst/>
          </a:prstGeom>
          <a:solidFill>
            <a:srgbClr val="D4A017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16002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23560" y="1805940"/>
            <a:ext cx="228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open"/>
          </a:ln>
        </p:spPr>
      </p:sp>
      <p:sp>
        <p:nvSpPr>
          <p:cNvPr id="31" name="Shape 29"/>
          <p:cNvSpPr/>
          <p:nvPr/>
        </p:nvSpPr>
        <p:spPr>
          <a:xfrm>
            <a:off x="5852160" y="1600200"/>
            <a:ext cx="777240" cy="411480"/>
          </a:xfrm>
          <a:prstGeom prst="rect">
            <a:avLst/>
          </a:prstGeom>
          <a:solidFill>
            <a:srgbClr val="B8860B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852160" y="16002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29400" y="1805940"/>
            <a:ext cx="228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open"/>
          </a:ln>
        </p:spPr>
      </p:sp>
      <p:sp>
        <p:nvSpPr>
          <p:cNvPr id="34" name="Shape 32"/>
          <p:cNvSpPr/>
          <p:nvPr/>
        </p:nvSpPr>
        <p:spPr>
          <a:xfrm>
            <a:off x="6858000" y="1600200"/>
            <a:ext cx="777240" cy="41148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58000" y="16002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635240" y="1805940"/>
            <a:ext cx="228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open"/>
          </a:ln>
        </p:spPr>
      </p:sp>
      <p:sp>
        <p:nvSpPr>
          <p:cNvPr id="37" name="Shape 35"/>
          <p:cNvSpPr/>
          <p:nvPr/>
        </p:nvSpPr>
        <p:spPr>
          <a:xfrm>
            <a:off x="7863840" y="1600200"/>
            <a:ext cx="777240" cy="4114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863840" y="16002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46320" y="21488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Segmentation : région, type, commercial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46320" y="2478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 : Email, SMS, Appel, Événement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46320" y="28072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Templates avec variables dynamiques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46320" y="3136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Métriques : ouvertures, clics, conversions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46320" y="34655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Leads générés par campagne traçables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3840480"/>
            <a:ext cx="3840480" cy="384048"/>
          </a:xfrm>
          <a:prstGeom prst="rect">
            <a:avLst/>
          </a:prstGeom>
          <a:solidFill>
            <a:srgbClr val="D4A017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46320" y="3840480"/>
            <a:ext cx="38404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Templates Email — Bibliothèque de modèles avec éditeur visuel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A8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Pilotage — KPIs, Objectifs &amp; Rapports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d'analyse et de pilotage de la performance commerciale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17A8C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201168" cy="841248"/>
          </a:xfrm>
          <a:prstGeom prst="rect">
            <a:avLst/>
          </a:prstGeom>
          <a:solidFill>
            <a:srgbClr val="17A8C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704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conversion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4996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→ Opportunités → Commandes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1A5C8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01168" cy="841248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1704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vente moyen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0" y="14996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par étape du pipeline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01168" cy="8412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1704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par commercial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14996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et comparaison N/N-1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103120"/>
            <a:ext cx="27432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103120"/>
            <a:ext cx="201168" cy="84124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1762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pondéré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basé sur les probabilités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103120"/>
            <a:ext cx="27432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D8F8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103120"/>
            <a:ext cx="201168" cy="841248"/>
          </a:xfrm>
          <a:prstGeom prst="rect">
            <a:avLst/>
          </a:prstGeom>
          <a:solidFill>
            <a:srgbClr val="0D8F8F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1762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visite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74720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actifs vs sans contact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2103120"/>
            <a:ext cx="27432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103120"/>
            <a:ext cx="201168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17627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 de paiement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Encours échu / balance âgée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310128"/>
            <a:ext cx="41148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7A8C4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310128"/>
            <a:ext cx="4114800" cy="320040"/>
          </a:xfrm>
          <a:prstGeom prst="rect">
            <a:avLst/>
          </a:prstGeom>
          <a:solidFill>
            <a:srgbClr val="17A8C4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3310128"/>
            <a:ext cx="4114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Commerciaux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Objectifs mensuels et annuels par commercial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11480" y="4005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Jauge de progression visuelle (0–100%)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1480" y="4279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Alertes automatiques si retard sur objectif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5537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Vue équipe consolidée pour le manager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310128"/>
            <a:ext cx="41148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C8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310128"/>
            <a:ext cx="4114800" cy="320040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3310128"/>
            <a:ext cx="4114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Prévisions de Ventes (Forecast)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00600" y="37307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Forecast basé sur le pipeline pondéré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0600" y="4005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Comparaison Prévu vs Réalisé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4279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Segmentation produit / région / équipe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0600" y="45537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Alertes si objectif en risque détecté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Administration, Intégrations &amp; Assistant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Configuration, sécurité, Sage 100C et intelligence artificielle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 &amp; Rôles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36192"/>
            <a:ext cx="1234440" cy="3108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53619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SUPER_ADMIN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00200" y="15727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complet + paramètres système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38528"/>
            <a:ext cx="1234440" cy="310896"/>
          </a:xfrm>
          <a:prstGeom prst="rect">
            <a:avLst/>
          </a:prstGeom>
          <a:solidFill>
            <a:srgbClr val="1A5C8A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9385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00200" y="19751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utilisateurs + configuration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40864"/>
            <a:ext cx="1234440" cy="310896"/>
          </a:xfrm>
          <a:prstGeom prst="rect">
            <a:avLst/>
          </a:prstGeom>
          <a:solidFill>
            <a:srgbClr val="0D8F8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3408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00200" y="23774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équipe + objectifs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43200"/>
            <a:ext cx="123444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00200" y="27797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+ terrain + finance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145536"/>
            <a:ext cx="1234440" cy="31089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145536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READ_ONLY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00200" y="3182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uniquement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611880"/>
            <a:ext cx="411480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611880"/>
            <a:ext cx="4114800" cy="32918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611880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Sage 100C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0233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Comptes ↔ Tiers Sage (sync bidirectionnelle)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297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Articles Sage → Catalogue produits OptiCRM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5720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Pièces comptables (factures, règlements) synchronisées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1097280"/>
            <a:ext cx="4114800" cy="3063240"/>
          </a:xfrm>
          <a:prstGeom prst="rect">
            <a:avLst/>
          </a:prstGeom>
          <a:solidFill>
            <a:srgbClr val="0D2B45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Assistant IA — Claude (Anthropic)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1572768"/>
            <a:ext cx="128016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15727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contextuel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16093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sur le CRM en langage naturel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1993392"/>
            <a:ext cx="128016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email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17920" y="20299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de propositions personnalisées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414016"/>
            <a:ext cx="128016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4140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lead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17920" y="24505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recommandations, points clés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2834640"/>
            <a:ext cx="128016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28346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compte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17920" y="28712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KPIs et historique client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3255264"/>
            <a:ext cx="128016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2552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temps réel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17920" y="3291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affichée mot par mot (SSE)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3703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claude-opus-4  •  API : Anthropic  •  Streaming : SSE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54880" y="4023360"/>
            <a:ext cx="4114800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54880" y="4023360"/>
            <a:ext cx="4114800" cy="3017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50" name="Text 48"/>
          <p:cNvSpPr/>
          <p:nvPr/>
        </p:nvSpPr>
        <p:spPr>
          <a:xfrm>
            <a:off x="4754880" y="4023360"/>
            <a:ext cx="4114800" cy="301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Tarifaires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46320" y="43891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Grilles de prix par segment client  •  Remises par profil commercial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spéciaux par produit ou famille — synchronisés avec Sage 100C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OptiCRM — Flux des Modules</dc:title>
  <dc:subject>PptxGenJS Presentation</dc:subject>
  <dc:creator>OptiCRM</dc:creator>
  <cp:lastModifiedBy>OptiCRM</cp:lastModifiedBy>
  <cp:revision>1</cp:revision>
  <dcterms:created xsi:type="dcterms:W3CDTF">2026-03-09T09:19:10Z</dcterms:created>
  <dcterms:modified xsi:type="dcterms:W3CDTF">2026-03-09T09:19:10Z</dcterms:modified>
</cp:coreProperties>
</file>